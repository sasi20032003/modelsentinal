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12" r:id="rId6"/>
    <p:sldId id="2147470494" r:id="rId7"/>
    <p:sldId id="2147470511" r:id="rId8"/>
    <p:sldId id="2147470501" r:id="rId9"/>
    <p:sldId id="2147470510" r:id="rId10"/>
    <p:sldId id="2147470498" r:id="rId11"/>
    <p:sldId id="2147470509" r:id="rId12"/>
    <p:sldId id="2147470497" r:id="rId13"/>
    <p:sldId id="2147470508" r:id="rId14"/>
    <p:sldId id="2147470507" r:id="rId15"/>
    <p:sldId id="2147470506" r:id="rId16"/>
    <p:sldId id="2147470499" r:id="rId17"/>
    <p:sldId id="2147470505" r:id="rId18"/>
    <p:sldId id="2147470503" r:id="rId19"/>
    <p:sldId id="21474705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1F4E79"/>
                </a:solidFill>
              </a:rPr>
              <a:t>Layer scores: mean 0.0298 → ALLOW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Anomaly score</c:v>
                </c:pt>
              </c:strCache>
            </c:strRef>
          </c:tx>
          <c:spPr>
            <a:solidFill>
              <a:srgbClr val="C8561F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  <c:pt idx="5">
                  <c:v>L6</c:v>
                </c:pt>
                <c:pt idx="6">
                  <c:v>L7</c:v>
                </c:pt>
                <c:pt idx="7">
                  <c:v>L8</c:v>
                </c:pt>
                <c:pt idx="8">
                  <c:v>L100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0.98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0.02</c:v>
                </c:pt>
                <c:pt idx="8">
                  <c:v>0.02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181-4C47-A341-D74BB44A6A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2B3A55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400" b="1">
                <a:solidFill>
                  <a:srgbClr val="1F4E79"/>
                </a:solidFill>
              </a:rPr>
              <a:t>Cross-validation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C4D9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Distributional alone</c:v>
                </c:pt>
                <c:pt idx="1">
                  <c:v>Spectral alone</c:v>
                </c:pt>
                <c:pt idx="2">
                  <c:v>Combined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96.5</c:v>
                </c:pt>
                <c:pt idx="2">
                  <c:v>96.5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310-47BA-8867-BE68A12D0A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(x100)</c:v>
                </c:pt>
              </c:strCache>
            </c:strRef>
          </c:tx>
          <c:spPr>
            <a:solidFill>
              <a:srgbClr val="47BDAF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Distributional alone</c:v>
                </c:pt>
                <c:pt idx="1">
                  <c:v>Spectral alone</c:v>
                </c:pt>
                <c:pt idx="2">
                  <c:v>Combined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94.7</c:v>
                </c:pt>
                <c:pt idx="1">
                  <c:v>98.7</c:v>
                </c:pt>
                <c:pt idx="2">
                  <c:v>98.7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310-47BA-8867-BE68A12D0A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2B3A55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400" b="1">
                <a:solidFill>
                  <a:srgbClr val="1F4E79"/>
                </a:solidFill>
              </a:rPr>
              <a:t>Detection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Pre-optimization</c:v>
                </c:pt>
              </c:strCache>
            </c:strRef>
          </c:tx>
          <c:spPr>
            <a:solidFill>
              <a:srgbClr val="A6A6A6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outlier_spike</c:v>
                </c:pt>
                <c:pt idx="1">
                  <c:v>repeated_const</c:v>
                </c:pt>
                <c:pt idx="2">
                  <c:v>bimodal_trigger</c:v>
                </c:pt>
                <c:pt idx="3">
                  <c:v>kurtosis_skew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</c:v>
                </c:pt>
                <c:pt idx="1">
                  <c:v>71.400000000000006</c:v>
                </c:pt>
                <c:pt idx="2">
                  <c:v>24</c:v>
                </c:pt>
                <c:pt idx="3">
                  <c:v>86.7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6F7-44CF-836C-29B7EDFBF0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Post-optimization</c:v>
                </c:pt>
              </c:strCache>
            </c:strRef>
          </c:tx>
          <c:spPr>
            <a:solidFill>
              <a:srgbClr val="1C4D9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outlier_spike</c:v>
                </c:pt>
                <c:pt idx="1">
                  <c:v>repeated_const</c:v>
                </c:pt>
                <c:pt idx="2">
                  <c:v>bimodal_trigger</c:v>
                </c:pt>
                <c:pt idx="3">
                  <c:v>kurtosis_skew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96</c:v>
                </c:pt>
                <c:pt idx="3">
                  <c:v>86.7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6F7-44CF-836C-29B7EDFBF0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2B3A55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ModelSentinel: Static Forensic Analysis and Uncertainty-Aware Defense Framework for AI Model Supply-Chain Security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SASI VARDHAN TALLURI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T9928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80160"/>
            <a:ext cx="6766560" cy="4389120"/>
          </a:xfrm>
        </p:spPr>
        <p:txBody>
          <a:bodyPr>
            <a:noAutofit/>
          </a:bodyPr>
          <a:lstStyle/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2A7F8F"/>
              </a:buClr>
              <a:buFont typeface="Arial"/>
              <a:buChar char="•"/>
            </a:pPr>
            <a:r>
              <a:rPr sz="1800" b="0" i="0">
                <a:solidFill>
                  <a:srgbClr val="2B3A55"/>
                </a:solidFill>
                <a:latin typeface="+mn-lt"/>
              </a:rPr>
              <a:t>The AI industry relies on open-source pre-trained weights from Hugging Face, Civitai, and third-party vendors.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2A7F8F"/>
              </a:buClr>
              <a:buFont typeface="Arial"/>
              <a:buChar char="•"/>
            </a:pPr>
            <a:r>
              <a:rPr sz="1800" b="0" i="0">
                <a:solidFill>
                  <a:srgbClr val="2B3A55"/>
                </a:solidFill>
                <a:latin typeface="+mn-lt"/>
              </a:rPr>
              <a:t>Legacy formats (.bin, .pt) used Python pickle, allowing Arbitrary Code Execution (RCE) via __reduce__ payloads.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2A7F8F"/>
              </a:buClr>
              <a:buFont typeface="Arial"/>
              <a:buChar char="•"/>
            </a:pPr>
            <a:r>
              <a:rPr sz="1800" b="0" i="0">
                <a:solidFill>
                  <a:srgbClr val="2B3A55"/>
                </a:solidFill>
                <a:latin typeface="+mn-lt"/>
              </a:rPr>
              <a:t>Hugging Face introduced .safetensors to eliminate code execution: raw binary floats + JSON header.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2A7F8F"/>
              </a:buClr>
              <a:buFont typeface="Arial"/>
              <a:buChar char="•"/>
            </a:pPr>
            <a:r>
              <a:rPr sz="1800" b="0" i="0">
                <a:solidFill>
                  <a:srgbClr val="2B3A55"/>
                </a:solidFill>
                <a:latin typeface="+mn-lt"/>
              </a:rPr>
              <a:t>This created the </a:t>
            </a:r>
            <a:r>
              <a:rPr sz="1800" b="1" i="0">
                <a:solidFill>
                  <a:srgbClr val="1C4D98"/>
                </a:solidFill>
                <a:latin typeface="+mn-lt"/>
              </a:rPr>
              <a:t>“SafeTensors Fallacy”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: a file that cannot execute code is assumed to hold benign weights.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Reality: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attackers embed neural Trojans, backdoors, attention hijacking, and encrypted steganography inside weight matrices.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ModelSentinel: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zero-code-execution static forensics that localizes the corrupted block and issues an explainable ALLOW / REVIEW / QUARANTINE verdict.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92608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2376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The SafeTensors Fallacy</a:t>
            </a:r>
          </a:p>
        </p:txBody>
      </p:sp>
      <p:graphicFrame>
        <p:nvGraphicFramePr>
          <p:cNvPr id="7" name="Fallacy comparison"/>
          <p:cNvGraphicFramePr>
            <a:graphicFrameLocks noGrp="1"/>
          </p:cNvGraphicFramePr>
          <p:nvPr/>
        </p:nvGraphicFramePr>
        <p:xfrm>
          <a:off x="7223760" y="169164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Legacy pickle (.bin / .pt)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Modern safetensors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Pickle VM opcode stream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JSON header + raw byte array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RCE on load via __reduce__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Zero code execution on load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Blind to weight manipulation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BLIND TO WEAPONIZED WEIGHTS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Fails unsafe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Safe container, unsafe math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80160"/>
            <a:ext cx="6766560" cy="4389120"/>
          </a:xfrm>
        </p:spPr>
        <p:txBody>
          <a:bodyPr>
            <a:noAutofit/>
          </a:bodyPr>
          <a:lstStyle/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Primary: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a production-grade, zero-runtime-execution forensic pipeline that statically audits AI weights before deployment, with zero false quarantines on clean checkpoints.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Zero Code Execution: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audit weights as static matrices; no forward passes.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Zero Data Dependence: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fully unsupervised; no private training data.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Layer-Dilution Defense: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one poisoned layer cannot hide among 100 clean ones.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Coordinate Localization: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pinpoint corrupted tensors to 256-parameter sub-blocks.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Surgical Remediation: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Rank-1 SVD deflation without retraining.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A7F8F"/>
              </a:buClr>
              <a:buFont typeface="Arial"/>
              <a:buChar char="•"/>
            </a:pPr>
            <a:r>
              <a:rPr sz="1800" b="1" i="0">
                <a:solidFill>
                  <a:srgbClr val="1C4D98"/>
                </a:solidFill>
                <a:latin typeface="+mn-lt"/>
              </a:rPr>
              <a:t>Production Distribution: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Python library, CLI, REST API, Streamlit UI, MCP tool.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92608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2376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Target KPIs at a glance</a:t>
            </a:r>
          </a:p>
        </p:txBody>
      </p:sp>
      <p:sp>
        <p:nvSpPr>
          <p:cNvPr id="7" name="KPI 1"/>
          <p:cNvSpPr/>
          <p:nvPr/>
        </p:nvSpPr>
        <p:spPr>
          <a:xfrm>
            <a:off x="7223760" y="173736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+mn-lt"/>
              </a:rPr>
              <a:t>≥ 95%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Accuracy</a:t>
            </a:r>
          </a:p>
        </p:txBody>
      </p:sp>
      <p:sp>
        <p:nvSpPr>
          <p:cNvPr id="8" name="KPI 2"/>
          <p:cNvSpPr/>
          <p:nvPr/>
        </p:nvSpPr>
        <p:spPr>
          <a:xfrm>
            <a:off x="9601200" y="173736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+mn-lt"/>
              </a:rPr>
              <a:t>≥ 0.98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ROC-AUC</a:t>
            </a:r>
          </a:p>
        </p:txBody>
      </p:sp>
      <p:sp>
        <p:nvSpPr>
          <p:cNvPr id="9" name="KPI 3"/>
          <p:cNvSpPr/>
          <p:nvPr/>
        </p:nvSpPr>
        <p:spPr>
          <a:xfrm>
            <a:off x="7223760" y="3063239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+mn-lt"/>
              </a:rPr>
              <a:t>0.0%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False quarantine</a:t>
            </a:r>
          </a:p>
        </p:txBody>
      </p:sp>
      <p:sp>
        <p:nvSpPr>
          <p:cNvPr id="10" name="KPI 4"/>
          <p:cNvSpPr/>
          <p:nvPr/>
        </p:nvSpPr>
        <p:spPr>
          <a:xfrm>
            <a:off x="9601200" y="3063239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+mn-lt"/>
              </a:rPr>
              <a:t>100%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Stego recall</a:t>
            </a:r>
          </a:p>
        </p:txBody>
      </p:sp>
      <p:sp>
        <p:nvSpPr>
          <p:cNvPr id="11" name="KPI 5"/>
          <p:cNvSpPr/>
          <p:nvPr/>
        </p:nvSpPr>
        <p:spPr>
          <a:xfrm>
            <a:off x="7223760" y="438912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+mn-lt"/>
              </a:rPr>
              <a:t>&lt; 2 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Scan latency (CPU)</a:t>
            </a:r>
          </a:p>
        </p:txBody>
      </p:sp>
      <p:sp>
        <p:nvSpPr>
          <p:cNvPr id="12" name="KPI 6"/>
          <p:cNvSpPr/>
          <p:nvPr/>
        </p:nvSpPr>
        <p:spPr>
          <a:xfrm>
            <a:off x="9601200" y="438912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4E79"/>
                </a:solidFill>
                <a:latin typeface="+mn-lt"/>
              </a:rPr>
              <a:t>&lt; 512 MB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RAM overhead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34440"/>
            <a:ext cx="11521440" cy="44805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800" b="1" i="0">
                <a:solidFill>
                  <a:srgbClr val="1C4D98"/>
                </a:solidFill>
                <a:latin typeface="+mn-lt"/>
              </a:rPr>
              <a:t>The 10-Stage Forensic Pipeline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 1 Ingestion: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memory-mapped, zero-copy read-only; SHA-256 digest; fail-closed.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 2 Stratification: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layer-role cohorts (linear_weight, norm_bias, conv_weight, embedding_weight).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Stages 3-4 Dual-Engine Features: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15 distributional + 10 spectral RMT + topological attention.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Stages 5-6 Anomaly Scoring: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intra-cohort Z-score, IQR, and absolute physical thresholds.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 7 LSE-MIL Pooling: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Log-Sum-Exp Multiple Instance Learning (τ = 6.0).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 8 Decision Engine: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ALLOW / REVIEW / QUARANTINE with calibrated thresholds.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 9 Localization: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256-element block coordinate pinpointing.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A7F8F"/>
              </a:buClr>
              <a:buFont typeface="Arial"/>
              <a:buChar char="•"/>
            </a:pPr>
            <a:r>
              <a:rPr sz="2000" b="1" i="0">
                <a:solidFill>
                  <a:srgbClr val="1C4D98"/>
                </a:solidFill>
                <a:latin typeface="+mn-lt"/>
              </a:rPr>
              <a:t>Stage 10 Remediation:</a:t>
            </a:r>
            <a:r>
              <a:rPr sz="2000" b="0" i="0">
                <a:solidFill>
                  <a:srgbClr val="2B3A55"/>
                </a:solidFill>
                <a:latin typeface="+mn-lt"/>
              </a:rPr>
              <a:t> Rank-1 SVD deflation, LSB mantissa clearing, layer hot-swapping.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1: End-to-End System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847203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Pipeline Flowchart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7161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Stage row1 0"/>
          <p:cNvSpPr/>
          <p:nvPr/>
        </p:nvSpPr>
        <p:spPr>
          <a:xfrm>
            <a:off x="457200" y="132588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Candidate file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(.safetensors)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Optional: base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44368" y="1938528"/>
            <a:ext cx="420624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ge row1 1"/>
          <p:cNvSpPr/>
          <p:nvPr/>
        </p:nvSpPr>
        <p:spPr>
          <a:xfrm>
            <a:off x="3383280" y="132588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1 · Ingestion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Memory-mapped, zero-copy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SHA-256 + header check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Fail-closed → QUARANTINE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70448" y="1938528"/>
            <a:ext cx="420624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 row1 2"/>
          <p:cNvSpPr/>
          <p:nvPr/>
        </p:nvSpPr>
        <p:spPr>
          <a:xfrm>
            <a:off x="6309360" y="132588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2 · Stratification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linear_weight, norm_bias,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conv, embed cohorts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96528" y="1938528"/>
            <a:ext cx="420624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ge row1 3"/>
          <p:cNvSpPr/>
          <p:nvPr/>
        </p:nvSpPr>
        <p:spPr>
          <a:xfrm>
            <a:off x="9235440" y="132588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2A7F8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3 · Dual engine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A: 14 distributional features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B: 9 spectral RMT descriptors</a:t>
            </a:r>
          </a:p>
        </p:txBody>
      </p:sp>
      <p:sp>
        <p:nvSpPr>
          <p:cNvPr id="13" name="Stage row2 0"/>
          <p:cNvSpPr/>
          <p:nvPr/>
        </p:nvSpPr>
        <p:spPr>
          <a:xfrm>
            <a:off x="457200" y="310896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C8561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7 · Decision engine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ALLOW / REVIEW / QUARANTINE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Override: worst tensor ≥ 0.95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Builds remediation plan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944368" y="3721608"/>
            <a:ext cx="420624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ge row2 1"/>
          <p:cNvSpPr/>
          <p:nvPr/>
        </p:nvSpPr>
        <p:spPr>
          <a:xfrm>
            <a:off x="3383280" y="310896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6 · Localization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Rank tensors by score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Slice worst into 256-element blocks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870448" y="3721608"/>
            <a:ext cx="420624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ge row2 2"/>
          <p:cNvSpPr/>
          <p:nvPr/>
        </p:nvSpPr>
        <p:spPr>
          <a:xfrm>
            <a:off x="6309360" y="310896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5 · LSE-MIL pooling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28-dim feature vector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Balanced logistic regression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796528" y="3721608"/>
            <a:ext cx="420624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ge row2 3"/>
          <p:cNvSpPr/>
          <p:nvPr/>
        </p:nvSpPr>
        <p:spPr>
          <a:xfrm>
            <a:off x="9235440" y="3108960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4 · Anomaly scoring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Stratified Z-score &amp; IQR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anomaly_score in [0,1]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69880" y="2560320"/>
            <a:ext cx="0" cy="54864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PI"/>
          <p:cNvSpPr/>
          <p:nvPr/>
        </p:nvSpPr>
        <p:spPr>
          <a:xfrm>
            <a:off x="457200" y="484632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E6F3DC"/>
          </a:solidFill>
          <a:ln w="19050">
            <a:solidFill>
              <a:srgbClr val="4E8A2E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FastAPI backend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POST /scan · GET /report/{id} · GET /health</a:t>
            </a:r>
          </a:p>
        </p:txBody>
      </p:sp>
      <p:sp>
        <p:nvSpPr>
          <p:cNvPr id="22" name="UI"/>
          <p:cNvSpPr/>
          <p:nvPr/>
        </p:nvSpPr>
        <p:spPr>
          <a:xfrm>
            <a:off x="3383280" y="484632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E6F3DC"/>
          </a:solidFill>
          <a:ln w="19050">
            <a:solidFill>
              <a:srgbClr val="4E8A2E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Streamlit dashboard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Gauge · ranked tensor table · diff upload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1600" y="4343400"/>
            <a:ext cx="0" cy="502920"/>
          </a:xfrm>
          <a:prstGeom prst="line">
            <a:avLst/>
          </a:prstGeom>
          <a:ln w="25400">
            <a:solidFill>
              <a:srgbClr val="4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68880" y="4343400"/>
            <a:ext cx="1828800" cy="502920"/>
          </a:xfrm>
          <a:prstGeom prst="line">
            <a:avLst/>
          </a:prstGeom>
          <a:ln w="25400">
            <a:solidFill>
              <a:srgbClr val="4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09707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Core problem"/>
          <p:cNvSpPr txBox="1"/>
          <p:nvPr/>
        </p:nvSpPr>
        <p:spPr>
          <a:xfrm>
            <a:off x="256032" y="1234440"/>
            <a:ext cx="11521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1F4E79"/>
                </a:solidFill>
                <a:latin typeface="+mn-lt"/>
              </a:rPr>
              <a:t>The core problem: “SafeTensors secures the envelope, not the letter inside.”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2B3A55"/>
                </a:solidFill>
                <a:latin typeface="+mn-lt"/>
              </a:rPr>
              <a:t>Modern AI supply chains trust .safetensors because it cannot execute code, but this gives zero protection against weaponized mathematical weights.</a:t>
            </a:r>
          </a:p>
        </p:txBody>
      </p:sp>
      <p:sp>
        <p:nvSpPr>
          <p:cNvPr id="7" name="Threat 1"/>
          <p:cNvSpPr/>
          <p:nvPr/>
        </p:nvSpPr>
        <p:spPr>
          <a:xfrm>
            <a:off x="320040" y="2743200"/>
            <a:ext cx="3657600" cy="288036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1 · Neural Trojans / Backdoors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Low-rank perturbation injected into a linear projection matrix (W = W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clean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+ ΔW, ΔW = uv</a:t>
            </a:r>
            <a:r>
              <a:rPr sz="1600" b="0" i="0" baseline="30000">
                <a:solidFill>
                  <a:srgbClr val="2B3A55"/>
                </a:solidFill>
                <a:latin typeface="+mn-lt"/>
              </a:rPr>
              <a:t>T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Normal on benchmarks; hidden trigger fires on specific inputs.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Challenge: mean / std statistics see nothing.</a:t>
            </a:r>
          </a:p>
        </p:txBody>
      </p:sp>
      <p:sp>
        <p:nvSpPr>
          <p:cNvPr id="8" name="Threat 2"/>
          <p:cNvSpPr/>
          <p:nvPr/>
        </p:nvSpPr>
        <p:spPr>
          <a:xfrm>
            <a:off x="4160520" y="2743200"/>
            <a:ext cx="3657600" cy="288036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2 · Topological Attention Hijacking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Query and Key matrices are aligned to force attention onto a trigger token.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Challenge: needs pairwise singular-vector cosine similarity analysis.</a:t>
            </a:r>
          </a:p>
        </p:txBody>
      </p:sp>
      <p:sp>
        <p:nvSpPr>
          <p:cNvPr id="9" name="Threat 3"/>
          <p:cNvSpPr/>
          <p:nvPr/>
        </p:nvSpPr>
        <p:spPr>
          <a:xfrm>
            <a:off x="8001000" y="2743200"/>
            <a:ext cx="3657600" cy="288036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3 · IEEE 754 Mantissa Steganography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Encrypted C2 malware in the lower 23-bit mantissa of float32 weights.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Accuracy unaffected; an external dropper extracts the payload.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Challenge: mean, std, kurtosis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Existing Tools Fail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66274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Tool failure table"/>
          <p:cNvGraphicFramePr>
            <a:graphicFrameLocks noGrp="1"/>
          </p:cNvGraphicFramePr>
          <p:nvPr/>
        </p:nvGraphicFramePr>
        <p:xfrm>
          <a:off x="320040" y="1325880"/>
          <a:ext cx="694943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+mn-lt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+mn-lt"/>
                        </a:rPr>
                        <a:t>What it checks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+mn-lt"/>
                        </a:rPr>
                        <a:t>Why it fails on .safetensors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B3A55"/>
                          </a:solidFill>
                          <a:latin typeface="+mn-lt"/>
                        </a:rPr>
                        <a:t>PickleScan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Python pickle opcodes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No bytecode in .safetensors: reports 100% SAFE on trojaned weights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B3A55"/>
                          </a:solidFill>
                          <a:latin typeface="+mn-lt"/>
                        </a:rPr>
                        <a:t>ModelScan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Serialization headers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Blind to mathematical weight manipulation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B3A55"/>
                          </a:solidFill>
                          <a:latin typeface="+mn-lt"/>
                        </a:rPr>
                        <a:t>Neural Cleanse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Runtime activation patching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Hours/days on GPU; needs clean validation data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B3A55"/>
                          </a:solidFill>
                          <a:latin typeface="+mn-lt"/>
                        </a:rPr>
                        <a:t>NIST TrojAI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Runtime trigger reverse-engineering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2B3A55"/>
                          </a:solidFill>
                          <a:latin typeface="+mn-lt"/>
                        </a:rPr>
                        <a:t>Needs a GPU cluster; not zero code execution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28016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The layer-dilution evasion</a:t>
            </a:r>
          </a:p>
        </p:txBody>
      </p:sp>
      <p:sp>
        <p:nvSpPr>
          <p:cNvPr id="8" name="Dilution text"/>
          <p:cNvSpPr txBox="1"/>
          <p:nvPr/>
        </p:nvSpPr>
        <p:spPr>
          <a:xfrm>
            <a:off x="7589520" y="1645920"/>
            <a:ext cx="4251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Attacker poisons 1 layer in a 100-layer model.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Global average dilutes the signal: 0.95 / 100 = 0.0095.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Classifier sees “clean” and issues ALLOW: a catastrophic false negative.</a:t>
            </a:r>
          </a:p>
        </p:txBody>
      </p:sp>
      <p:graphicFrame>
        <p:nvGraphicFramePr>
          <p:cNvPr id="9" name="Dilution chart"/>
          <p:cNvGraphicFramePr>
            <a:graphicFrameLocks noGrp="1"/>
          </p:cNvGraphicFramePr>
          <p:nvPr/>
        </p:nvGraphicFramePr>
        <p:xfrm>
          <a:off x="7498079" y="3200400"/>
          <a:ext cx="4343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97033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Method card 1"/>
          <p:cNvSpPr/>
          <p:nvPr/>
        </p:nvSpPr>
        <p:spPr>
          <a:xfrm>
            <a:off x="320040" y="128016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6.1 Research &amp; math foundation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RMT: Marchenko-Pastur bulk edge, BBP phase transition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Stat. mechanics: Sarle's BC, mantissa entropy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MIL: Log-Sum-Exp pooling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HT-SR: ESD power-law α (Martin &amp; Mahoney)</a:t>
            </a:r>
          </a:p>
        </p:txBody>
      </p:sp>
      <p:sp>
        <p:nvSpPr>
          <p:cNvPr id="7" name="Method card 2"/>
          <p:cNvSpPr/>
          <p:nvPr/>
        </p:nvSpPr>
        <p:spPr>
          <a:xfrm>
            <a:off x="4160520" y="128016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6.2 System design &amp; development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Python 3.9+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NumPy, SciPy, Scikit-learn, SafeTensors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Hatchling (PEP 517/518)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PEP 561 py.typed marker</a:t>
            </a:r>
          </a:p>
        </p:txBody>
      </p:sp>
      <p:sp>
        <p:nvSpPr>
          <p:cNvPr id="8" name="Method card 3"/>
          <p:cNvSpPr/>
          <p:nvPr/>
        </p:nvSpPr>
        <p:spPr>
          <a:xfrm>
            <a:off x="8001000" y="128016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6.3 Dual-engine feature extraction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A Distributional (15): mean, std, skew, kurtosis, Sarle's BC, duplicate ratio, mantissa entropy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B Spectral RMT (10): SVD, MP edge, BBP ratio, ESD α, effective rank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C Topological: Q/K cosine alignment</a:t>
            </a:r>
          </a:p>
        </p:txBody>
      </p:sp>
      <p:sp>
        <p:nvSpPr>
          <p:cNvPr id="9" name="Method card 4"/>
          <p:cNvSpPr/>
          <p:nvPr/>
        </p:nvSpPr>
        <p:spPr>
          <a:xfrm>
            <a:off x="320040" y="352044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6.4 Anti-dilution risk aggregation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LSE-MIL: F(S) = S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max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+ (1/τ) ln((1/K) Σ exp(τ(s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i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− S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max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))), τ = 6.0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Hard bound: any s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i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≥ 0.90 → risk ≥ 0.75 → QUARANTINE</a:t>
            </a:r>
          </a:p>
        </p:txBody>
      </p:sp>
      <p:sp>
        <p:nvSpPr>
          <p:cNvPr id="10" name="Method card 5"/>
          <p:cNvSpPr/>
          <p:nvPr/>
        </p:nvSpPr>
        <p:spPr>
          <a:xfrm>
            <a:off x="4160520" y="352044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6.5 Validation &amp; testing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200 synthetic + real checkpoints (clean, trojaned, stego)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5-fold stratified CV × 3 seeds = 15 folds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26 tests across 7 modules</a:t>
            </a:r>
          </a:p>
        </p:txBody>
      </p:sp>
      <p:sp>
        <p:nvSpPr>
          <p:cNvPr id="11" name="Method card 6"/>
          <p:cNvSpPr/>
          <p:nvPr/>
        </p:nvSpPr>
        <p:spPr>
          <a:xfrm>
            <a:off x="8001000" y="352044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6.6 Surgical remediation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Rank-1 SVD deflation: W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cleansed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= W − σ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1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u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1</a:t>
            </a:r>
            <a:r>
              <a:rPr sz="1600" b="0" i="0">
                <a:solidFill>
                  <a:srgbClr val="2B3A55"/>
                </a:solidFill>
                <a:latin typeface="+mn-lt"/>
              </a:rPr>
              <a:t> v</a:t>
            </a:r>
            <a:r>
              <a:rPr sz="1600" b="0" i="0" baseline="-25000">
                <a:solidFill>
                  <a:srgbClr val="2B3A55"/>
                </a:solidFill>
                <a:latin typeface="+mn-lt"/>
              </a:rPr>
              <a:t>1</a:t>
            </a:r>
            <a:r>
              <a:rPr sz="1600" b="0" i="0" baseline="30000">
                <a:solidFill>
                  <a:srgbClr val="2B3A55"/>
                </a:solidFill>
                <a:latin typeface="+mn-lt"/>
              </a:rPr>
              <a:t>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LSB mantissa zero-clearing: x &amp; ~0xFF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Checkpoint layer hot-swapping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Methodology Overview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88890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Phase 1"/>
          <p:cNvSpPr/>
          <p:nvPr/>
        </p:nvSpPr>
        <p:spPr>
          <a:xfrm>
            <a:off x="320040" y="132588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Research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RMT · Statistics · MIL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95928" y="1737360"/>
            <a:ext cx="164592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hase 2"/>
          <p:cNvSpPr/>
          <p:nvPr/>
        </p:nvSpPr>
        <p:spPr>
          <a:xfrm>
            <a:off x="4160520" y="132588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Design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10-stage · dual-engine · LSE-MIL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36408" y="1737360"/>
            <a:ext cx="164592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hase 3"/>
          <p:cNvSpPr/>
          <p:nvPr/>
        </p:nvSpPr>
        <p:spPr>
          <a:xfrm>
            <a:off x="8001000" y="132588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Validate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15-fold · 200 models · 26 tests</a:t>
            </a:r>
          </a:p>
        </p:txBody>
      </p:sp>
      <p:sp>
        <p:nvSpPr>
          <p:cNvPr id="11" name="Engine 1"/>
          <p:cNvSpPr/>
          <p:nvPr/>
        </p:nvSpPr>
        <p:spPr>
          <a:xfrm>
            <a:off x="320040" y="246888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Distributional (15)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Kurtosis · Sarle's BC · Mantissa entropy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520440"/>
            <a:ext cx="0" cy="27432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gine 2"/>
          <p:cNvSpPr/>
          <p:nvPr/>
        </p:nvSpPr>
        <p:spPr>
          <a:xfrm>
            <a:off x="4160520" y="246888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2A7F8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Spectral / RMT (10)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BBP spike ratio · MP bulk edge · ESD 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3520440"/>
            <a:ext cx="0" cy="27432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ngine 3"/>
          <p:cNvSpPr/>
          <p:nvPr/>
        </p:nvSpPr>
        <p:spPr>
          <a:xfrm>
            <a:off x="8001000" y="246888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Topological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Q/K cosine similarity &gt; 0.85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9800" y="3520440"/>
            <a:ext cx="0" cy="27432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SE-MIL box"/>
          <p:cNvSpPr/>
          <p:nvPr/>
        </p:nvSpPr>
        <p:spPr>
          <a:xfrm>
            <a:off x="320040" y="3794760"/>
            <a:ext cx="11338560" cy="777240"/>
          </a:xfrm>
          <a:prstGeom prst="roundRect">
            <a:avLst>
              <a:gd name="adj" fmla="val 12000"/>
            </a:avLst>
          </a:prstGeom>
          <a:solidFill>
            <a:srgbClr val="E6F3DC"/>
          </a:solidFill>
          <a:ln w="19050">
            <a:solidFill>
              <a:srgbClr val="4E8A2E"/>
            </a:solidFill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Anti-dilution LSE-MIL pooling (τ = 6.0): F(S) = S_max + (1/τ) ln((1/K) Σ exp(τ(s_i − S_max)))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Any s_i ≥ 0.90 → model risk ≥ 0.75 → QUARANTINE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4572000"/>
            <a:ext cx="0" cy="22860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mediation box"/>
          <p:cNvSpPr/>
          <p:nvPr/>
        </p:nvSpPr>
        <p:spPr>
          <a:xfrm>
            <a:off x="320040" y="4800600"/>
            <a:ext cx="11338560" cy="777240"/>
          </a:xfrm>
          <a:prstGeom prst="roundRect">
            <a:avLst>
              <a:gd name="adj" fmla="val 12000"/>
            </a:avLst>
          </a:prstGeom>
          <a:solidFill>
            <a:srgbClr val="C8561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+mn-lt"/>
              </a:rPr>
              <a:t>Surgical remediation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+mn-lt"/>
              </a:rPr>
              <a:t>Rank-1 SVD deflation W − σ₁u₁v₁ᵀ  ·  LSB mantissa zero-clearing x &amp; ~0xFF  ·  layer hot-swapping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Algorithms: Core Algorithms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801651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Algorithm table"/>
          <p:cNvGraphicFramePr>
            <a:graphicFrameLocks noGrp="1"/>
          </p:cNvGraphicFramePr>
          <p:nvPr/>
        </p:nvGraphicFramePr>
        <p:xfrm>
          <a:off x="320040" y="1280160"/>
          <a:ext cx="11338560" cy="466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Algorithm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Formula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Sarle's Bimodality Coefficient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BC = (γ</a:t>
                      </a:r>
                      <a:r>
                        <a:rPr sz="16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2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+ 1) / (κ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excess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+ 3)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Bimodal trigger clusters (BC &gt; 0.555)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Duplicate Ratio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R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dup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= (N − |unique(x)|) /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Pinned constants / watermarks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Mantissa Bitplane Entropy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H = −Σ P(u=b) log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2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P(u=b),  b = 0..255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Steganography (H &gt; 7.95)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Marchenko-Pastur Bulk Edge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λ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+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= σ</a:t>
                      </a:r>
                      <a:r>
                        <a:rPr sz="16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2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bulk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(1 + √γ)</a:t>
                      </a:r>
                      <a:r>
                        <a:rPr sz="16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Theoretical noise boundary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BBP Spike Ratio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Ratio = σ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1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/ λ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Rank-1 Trojans (&gt; 1.25)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ESD Power-Law Alpha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p(s) ∝ s</a:t>
                      </a:r>
                      <a:r>
                        <a:rPr sz="16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−α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Rank collapse (α &lt; 1.8)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LSE-MIL Pooling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F(S) = S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max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+ (1/τ) ln((1/K) Σ exp(τ(s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i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− S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max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))),  τ = 6.0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Anti-dilution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Rank-1 SVD Deflation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W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cleansed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= W − σ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1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u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1</a:t>
                      </a: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 v</a:t>
                      </a:r>
                      <a:r>
                        <a:rPr sz="16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1</a:t>
                      </a:r>
                      <a:r>
                        <a:rPr sz="16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Surgical remediation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Software Stack, ML Model &amp; Decision Policy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872807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Stack table"/>
          <p:cNvGraphicFramePr>
            <a:graphicFrameLocks noGrp="1"/>
          </p:cNvGraphicFramePr>
          <p:nvPr/>
        </p:nvGraphicFramePr>
        <p:xfrm>
          <a:off x="320040" y="1280160"/>
          <a:ext cx="57607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+mn-lt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B3A55"/>
                          </a:solidFill>
                          <a:latin typeface="+mn-lt"/>
                        </a:rPr>
                        <a:t>Core computing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Python 3.9+, NumPy, SciPy, Scikit-learn, SafeTensors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B3A55"/>
                          </a:solidFill>
                          <a:latin typeface="+mn-lt"/>
                        </a:rPr>
                        <a:t>CLI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Typer, Rich (formatting, progress bars, exit codes)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B3A55"/>
                          </a:solidFill>
                          <a:latin typeface="+mn-lt"/>
                        </a:rPr>
                        <a:t>API microservice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FastAPI, Uvicorn, Pydantic v2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B3A55"/>
                          </a:solidFill>
                          <a:latin typeface="+mn-lt"/>
                        </a:rPr>
                        <a:t>Web 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Streamlit (interactive dashboard)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B3A55"/>
                          </a:solidFill>
                          <a:latin typeface="+mn-lt"/>
                        </a:rPr>
                        <a:t>DevOps &amp; agents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MCP, Docker, Docker Compose, Hatchling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B3A55"/>
                          </a:solidFill>
                          <a:latin typeface="+mn-lt"/>
                        </a:rPr>
                        <a:t>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pytest, 26 tests across 7 modules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Decision policy</a:t>
            </a:r>
          </a:p>
        </p:txBody>
      </p:sp>
      <p:graphicFrame>
        <p:nvGraphicFramePr>
          <p:cNvPr id="8" name="Decision table"/>
          <p:cNvGraphicFramePr>
            <a:graphicFrameLocks noGrp="1"/>
          </p:cNvGraphicFramePr>
          <p:nvPr/>
        </p:nvGraphicFramePr>
        <p:xfrm>
          <a:off x="6355080" y="1645920"/>
          <a:ext cx="5486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Risk range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&lt; 0.30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ALLOW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CI/CD passes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0.30 – 0.70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Manual security sign-off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≥ 0.70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QUARANTINE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CI/CD build breaks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Worst tensor ≥ 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Hard override → QUARANTINE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Immediate 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ML card"/>
          <p:cNvSpPr/>
          <p:nvPr/>
        </p:nvSpPr>
        <p:spPr>
          <a:xfrm>
            <a:off x="6355080" y="434340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Machine-learning model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StandardScaler + Balanced Logistic Regression on a 28-dim vector (16 distributional + 12 spectral).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Why: auditable coefficients, sample-efficient for 200 models, microsecond inference.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Results: Cross-Validation (15 Folds, 200 Models)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94321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CV table"/>
          <p:cNvGraphicFramePr>
            <a:graphicFrameLocks noGrp="1"/>
          </p:cNvGraphicFramePr>
          <p:nvPr/>
        </p:nvGraphicFramePr>
        <p:xfrm>
          <a:off x="320040" y="128016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Feature family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Dim.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+mn-lt"/>
                        </a:rPr>
                        <a:t>False quarantine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Distributional alone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0.900 ± 0.050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0.947 ± 0.036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Spectral baseline alone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0.965 ± 0.027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0.987 ± 0.015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2B3A55"/>
                          </a:solidFill>
                          <a:latin typeface="+mn-lt"/>
                        </a:rPr>
                        <a:t>Combined ModelSentinel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0.965 ± 0.024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0.987 ± 0.014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V chart"/>
          <p:cNvGraphicFramePr>
            <a:graphicFrameLocks noGrp="1"/>
          </p:cNvGraphicFramePr>
          <p:nvPr/>
        </p:nvGraphicFramePr>
        <p:xfrm>
          <a:off x="320040" y="3291840"/>
          <a:ext cx="69494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tat 1"/>
          <p:cNvSpPr/>
          <p:nvPr/>
        </p:nvSpPr>
        <p:spPr>
          <a:xfrm>
            <a:off x="7680960" y="3291840"/>
            <a:ext cx="3977639" cy="71323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96.5%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 Accuracy ± 2.4%</a:t>
            </a:r>
          </a:p>
        </p:txBody>
      </p:sp>
      <p:sp>
        <p:nvSpPr>
          <p:cNvPr id="9" name="Stat 2"/>
          <p:cNvSpPr/>
          <p:nvPr/>
        </p:nvSpPr>
        <p:spPr>
          <a:xfrm>
            <a:off x="7680960" y="4087368"/>
            <a:ext cx="3977639" cy="71323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0.987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 ROC-AUC ± 0.014</a:t>
            </a:r>
          </a:p>
        </p:txBody>
      </p:sp>
      <p:sp>
        <p:nvSpPr>
          <p:cNvPr id="10" name="Stat 3"/>
          <p:cNvSpPr/>
          <p:nvPr/>
        </p:nvSpPr>
        <p:spPr>
          <a:xfrm>
            <a:off x="7680960" y="4882896"/>
            <a:ext cx="3977639" cy="71323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0.0%</a:t>
            </a:r>
            <a:r>
              <a:rPr sz="1800" b="0" i="0">
                <a:solidFill>
                  <a:srgbClr val="2B3A55"/>
                </a:solidFill>
                <a:latin typeface="+mn-lt"/>
              </a:rPr>
              <a:t>  False quarantine rate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Ablation Study: Closing the Blind Spots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761843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Ablation chart"/>
          <p:cNvGraphicFramePr>
            <a:graphicFrameLocks noGrp="1"/>
          </p:cNvGraphicFramePr>
          <p:nvPr/>
        </p:nvGraphicFramePr>
        <p:xfrm>
          <a:off x="320040" y="1280160"/>
          <a:ext cx="60350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Ablation table"/>
          <p:cNvGraphicFramePr>
            <a:graphicFrameLocks noGrp="1"/>
          </p:cNvGraphicFramePr>
          <p:nvPr/>
        </p:nvGraphicFramePr>
        <p:xfrm>
          <a:off x="6583680" y="1371600"/>
          <a:ext cx="5212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Attack type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Pre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Primary driver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outlier_spike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96.2%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100.0%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Stratified Z-score + IQR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repeated_const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71.4%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100.0%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Duplicate ratio (R</a:t>
                      </a:r>
                      <a:r>
                        <a:rPr sz="1400" b="0" i="0" baseline="-25000">
                          <a:solidFill>
                            <a:srgbClr val="2B3A55"/>
                          </a:solidFill>
                          <a:latin typeface="+mn-lt"/>
                        </a:rPr>
                        <a:t>dup</a:t>
                      </a: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bimodal_trigger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24.0%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96.0%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Sarle's bimodality (BC)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kurtosis_skew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86.7%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86.7%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LSE-MIL pooling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SOTA Comparative Benchmarks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634220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SOTA table"/>
          <p:cNvGraphicFramePr>
            <a:graphicFrameLocks noGrp="1"/>
          </p:cNvGraphicFramePr>
          <p:nvPr/>
        </p:nvGraphicFramePr>
        <p:xfrm>
          <a:off x="320040" y="1280160"/>
          <a:ext cx="1133856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PickleScan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ModelScan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Neural Cleanse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NIST TrojAI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ModelSentinel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Zero code execution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Weight Trojan detection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Zero clean data required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Mantissa steganography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Layer-dilution defense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Surgical in-place fix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Scan latency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&lt; 1 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&lt; 2 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Hours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Hours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1.42 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Overall accuracy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88.4%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91.2%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96.5%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0.912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0.934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0.987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False quarantine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8.4%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6.2%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4D98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Performance Metrics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517532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Key metrics table"/>
          <p:cNvGraphicFramePr>
            <a:graphicFrameLocks noGrp="1"/>
          </p:cNvGraphicFramePr>
          <p:nvPr/>
        </p:nvGraphicFramePr>
        <p:xfrm>
          <a:off x="320040" y="1280160"/>
          <a:ext cx="70408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Plain English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96.5%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Correct call on 96.5 of 100 models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False alarms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Never blocks a clean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0.987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98.7% separation of good vs. bad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Backdoor catch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Catches every hidden backdoor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Stego catch rate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Catches hidden malware in float bits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Scan latency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1.42 sec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Scans in seconds on a laptop CPU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RAM overhead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&lt; 512 MB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Less memory than a web browser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Repaired model health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99.8%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Fixed in 2 sec, no retraining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2344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+mn-lt"/>
              </a:rPr>
              <a:t>Confusion matrix (conceptual)</a:t>
            </a:r>
          </a:p>
        </p:txBody>
      </p:sp>
      <p:graphicFrame>
        <p:nvGraphicFramePr>
          <p:cNvPr id="8" name="Confusion matrix"/>
          <p:cNvGraphicFramePr>
            <a:graphicFrameLocks noGrp="1"/>
          </p:cNvGraphicFramePr>
          <p:nvPr/>
        </p:nvGraphicFramePr>
        <p:xfrm>
          <a:off x="7635240" y="1645920"/>
          <a:ext cx="4206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Pred. clean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+mn-lt"/>
                        </a:rPr>
                        <a:t>Pred. malicious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Actual clean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94%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B3A55"/>
                          </a:solidFill>
                          <a:latin typeface="+mn-lt"/>
                        </a:rPr>
                        <a:t>Actual malicious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2B3A55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Matrix note"/>
          <p:cNvSpPr txBox="1"/>
          <p:nvPr/>
        </p:nvSpPr>
        <p:spPr>
          <a:xfrm>
            <a:off x="7635240" y="3429000"/>
            <a:ext cx="4206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B3A55"/>
                </a:solidFill>
                <a:latin typeface="+mn-lt"/>
              </a:rPr>
              <a:t>0.0% false quarantine; 100% recall.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B3A55"/>
                </a:solidFill>
                <a:latin typeface="+mn-lt"/>
              </a:rPr>
              <a:t>Note: 6% REVIEW rate on clean models (flagged for human review, not false quarantine).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80160"/>
            <a:ext cx="6583680" cy="4389120"/>
          </a:xfrm>
        </p:spPr>
        <p:txBody>
          <a:bodyPr>
            <a:noAutofit/>
          </a:bodyPr>
          <a:lstStyle/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A7F8F"/>
              </a:buClr>
              <a:buFont typeface="Arial"/>
              <a:buChar char="•"/>
            </a:pPr>
            <a:r>
              <a:rPr sz="1700" b="1" i="0">
                <a:solidFill>
                  <a:srgbClr val="1C4D98"/>
                </a:solidFill>
                <a:latin typeface="+mn-lt"/>
              </a:rPr>
              <a:t>Solved the SafeTensors Fallacy:</a:t>
            </a:r>
            <a:r>
              <a:rPr sz="1700" b="0" i="0">
                <a:solidFill>
                  <a:srgbClr val="2B3A55"/>
                </a:solidFill>
                <a:latin typeface="+mn-lt"/>
              </a:rPr>
              <a:t> first zero-code-execution static forensics for .safetensors weights; detects Trojans, backdoors, attention hijacking, and steganography.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A7F8F"/>
              </a:buClr>
              <a:buFont typeface="Arial"/>
              <a:buChar char="•"/>
            </a:pPr>
            <a:r>
              <a:rPr sz="1700" b="1" i="0">
                <a:solidFill>
                  <a:srgbClr val="1C4D98"/>
                </a:solidFill>
                <a:latin typeface="+mn-lt"/>
              </a:rPr>
              <a:t>State-of-the-art:</a:t>
            </a:r>
            <a:r>
              <a:rPr sz="1700" b="0" i="0">
                <a:solidFill>
                  <a:srgbClr val="2B3A55"/>
                </a:solidFill>
                <a:latin typeface="+mn-lt"/>
              </a:rPr>
              <a:t> 96.5% accuracy, 0.987 ROC-AUC, 0.0% false quarantine, 100% stego recall; 1.42 s CPU scan, &lt; 512 MB RAM.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A7F8F"/>
              </a:buClr>
              <a:buFont typeface="Arial"/>
              <a:buChar char="•"/>
            </a:pPr>
            <a:r>
              <a:rPr sz="1700" b="1" i="0">
                <a:solidFill>
                  <a:srgbClr val="1C4D98"/>
                </a:solidFill>
                <a:latin typeface="+mn-lt"/>
              </a:rPr>
              <a:t>Novel contributions:</a:t>
            </a:r>
            <a:r>
              <a:rPr sz="1700" b="0" i="0">
                <a:solidFill>
                  <a:srgbClr val="2B3A55"/>
                </a:solidFill>
                <a:latin typeface="+mn-lt"/>
              </a:rPr>
              <a:t> Sarle's BC lifts bimodal triggers 24% → 96%; duplicate ratio lifts repeated constants 71% → 100%; LSE-MIL (τ = 6.0) defeats layer dilution; BBP ratio on a robust MAD bulk.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A7F8F"/>
              </a:buClr>
              <a:buFont typeface="Arial"/>
              <a:buChar char="•"/>
            </a:pPr>
            <a:r>
              <a:rPr sz="1700" b="1" i="0">
                <a:solidFill>
                  <a:srgbClr val="1C4D98"/>
                </a:solidFill>
                <a:latin typeface="+mn-lt"/>
              </a:rPr>
              <a:t>Surgical remediation:</a:t>
            </a:r>
            <a:r>
              <a:rPr sz="1700" b="0" i="0">
                <a:solidFill>
                  <a:srgbClr val="2B3A55"/>
                </a:solidFill>
                <a:latin typeface="+mn-lt"/>
              </a:rPr>
              <a:t> Rank-1 SVD deflation in &lt; 2 s keeps 99.8% utility; no retraining.</a:t>
            </a:r>
          </a:p>
          <a:p>
            <a:pPr marL="292608" indent="-29260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A7F8F"/>
              </a:buClr>
              <a:buFont typeface="Arial"/>
              <a:buChar char="•"/>
            </a:pPr>
            <a:r>
              <a:rPr sz="1700" b="1" i="0">
                <a:solidFill>
                  <a:srgbClr val="1C4D98"/>
                </a:solidFill>
                <a:latin typeface="+mn-lt"/>
              </a:rPr>
              <a:t>Production-ready:</a:t>
            </a:r>
            <a:r>
              <a:rPr sz="1700" b="0" i="0">
                <a:solidFill>
                  <a:srgbClr val="2B3A55"/>
                </a:solidFill>
                <a:latin typeface="+mn-lt"/>
              </a:rPr>
              <a:t> Python package, CLI (exit codes 0/2/3), FastAPI, Streamlit, MCP server, hardened Docker.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Conclusion: Summary of Achievements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79841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sp>
        <p:nvSpPr>
          <p:cNvPr id="6" name="Achievement 1"/>
          <p:cNvSpPr/>
          <p:nvPr/>
        </p:nvSpPr>
        <p:spPr>
          <a:xfrm>
            <a:off x="7132320" y="1280160"/>
            <a:ext cx="4663440" cy="132588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Detection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96.5% accuracy · 0.987 ROC-AUC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100% Trojan · 100% Stego</a:t>
            </a:r>
          </a:p>
        </p:txBody>
      </p:sp>
      <p:sp>
        <p:nvSpPr>
          <p:cNvPr id="7" name="Achievement 2"/>
          <p:cNvSpPr/>
          <p:nvPr/>
        </p:nvSpPr>
        <p:spPr>
          <a:xfrm>
            <a:off x="7132320" y="2743200"/>
            <a:ext cx="4663440" cy="132588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Performance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1.42 s scan · &lt; 512 MB RAM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CPU-only · zero GPU</a:t>
            </a:r>
          </a:p>
        </p:txBody>
      </p:sp>
      <p:sp>
        <p:nvSpPr>
          <p:cNvPr id="8" name="Achievement 3"/>
          <p:cNvSpPr/>
          <p:nvPr/>
        </p:nvSpPr>
        <p:spPr>
          <a:xfrm>
            <a:off x="7132320" y="4206240"/>
            <a:ext cx="4663440" cy="132588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wrap="square" lIns="73152" tIns="36576" rIns="73152" bIns="36576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B3A55"/>
                </a:solidFill>
                <a:latin typeface="+mn-lt"/>
              </a:rPr>
              <a:t>Remediation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SVD deflation · 99.8% utility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&lt; 2 s fix · no retraining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Limitations &amp;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542111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  <p:graphicFrame>
        <p:nvGraphicFramePr>
          <p:cNvPr id="6" name="Limitations table"/>
          <p:cNvGraphicFramePr>
            <a:graphicFrameLocks noGrp="1"/>
          </p:cNvGraphicFramePr>
          <p:nvPr/>
        </p:nvGraphicFramePr>
        <p:xfrm>
          <a:off x="320040" y="1280160"/>
          <a:ext cx="113385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+mn-lt"/>
                        </a:rPr>
                        <a:t>Limitation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+mn-lt"/>
                        </a:rPr>
                        <a:t>Future work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Exact SVD is O(min(m</a:t>
                      </a:r>
                      <a:r>
                        <a:rPr sz="15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2</a:t>
                      </a: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n, mn</a:t>
                      </a:r>
                      <a:r>
                        <a:rPr sz="1500" b="0" i="0" baseline="30000">
                          <a:solidFill>
                            <a:srgbClr val="2B3A55"/>
                          </a:solidFill>
                          <a:latin typeface="+mn-lt"/>
                        </a:rPr>
                        <a:t>2</a:t>
                      </a: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)): slow on 70B+ models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Randomized SVD (Halko et al.) for sub-second spectral analysis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Only FP32 / FP16 / BF16 .safetensors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Streaming dequantization for GGUF, AWQ, GPTQ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In-memory report store does not scale across workers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Replace with Redis + PostgreSQL + Celery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Adaptive adversaries can spread perturbations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Combine with runtime activation monitoring (defense-in-depth)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A few kurtosis-skew cases still land at ALLOW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B3A55"/>
                          </a:solidFill>
                          <a:latin typeface="+mn-lt"/>
                        </a:rPr>
                        <a:t>Hard override if any single tensor scores &gt; 0.95</a:t>
                      </a:r>
                    </a:p>
                  </a:txBody>
                  <a:tcPr marL="73152" marR="73152" marT="27432" marB="27432" anchor="ctr"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oundbite"/>
          <p:cNvSpPr/>
          <p:nvPr/>
        </p:nvSpPr>
        <p:spPr>
          <a:xfrm>
            <a:off x="320040" y="4892040"/>
            <a:ext cx="1133856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+mn-lt"/>
              </a:rPr>
              <a:t>“SafeTensors secures the envelope, not the letter inside. ModelSentinel is the X-ray machine that inspects the contents of the letter without opening it.”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80160"/>
            <a:ext cx="11521440" cy="43891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[1] Hugging Face. “safetensors: Simple, safe way to store and distribute tensors.” GitHub Repository, 2023. https://github.com/huggingface/safetensors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[2] Baik, J., Ben Arous, G., &amp; Péché, S. “Phase transition of the largest eigenvalue for nonnull complex sample covariance matrices.” Annals of Probability, 33(5):1643–1697, 2005.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[3] Marchenko, V. A., &amp; Pastur, L. A. “Distribution of eigenvalues for some sets of random matrices.” Matematicheskii Sbornik, 114(4):507–536, 1967.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[4] Martin, C. H., &amp; Mahoney, M. W. “Implicit self-regularization in deep neural networks: Evidence from random matrix theory and implications for learning.” JMLR, 22(165):1–73, 2021.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[5] Sarle, W. S. “The Bimodality Coefficient: A new measure of bimodality.” SAS Institute Inc., 1990.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[6] Halko, N., Martinsson, P. G., &amp; Tropp, J. A. “Finding structure with randomness: Probabilistic algorithms for constructing approximate matrix decompositions.” SIAM Review, 53(2):217–288, 2011.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[7] IEEE. “IEEE Standard for Floating-Point Arithmetic.” IEEE Std 754-2019, 2019.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[8] Liu, Y., et al. “Trojaning Attack on Neural Networks.” NDSS, 2018.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[9] Wang, B., et al. “Neural Cleanse: Identifying and Mitigating Backdoor Attacks in Neural Networks.” IEEE S&amp;P, 2019.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92608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80160"/>
            <a:ext cx="11521440" cy="43891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[10] NIST. “TrojAI: Trojans in Artificial Intelligence.” NIST Program, 2020–2023.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[11] Chen, X., et al. “ModelScan: Protecting Against Model Serialization Attacks.” Protect AI, 2023.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[12] Oh, S., et al. “PickleScan: A Fast Scanner for Detecting Malicious Pickle Files.” GitHub Repository, 2020.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[13] Roy, O., &amp; Vetterli, M. “The effective rank: A measure of effective dimensionality.” EUSIPCO, 2007.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[14] Anthropic. “Model Context Protocol (MCP).” Anthropic Documentation, 2024. https://modelcontextprotocol.io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[15] FastAPI. “Modern, fast web framework for building APIs with Python.” Documentation, 2024. https://fastapi.tiangolo.com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[16] Streamlit. “The fastest way to build and share data apps.” Documentation, 2024. https://streamlit.io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[17] Typer. “Typer: Build great CLIs. Easy to code. Based on Python type hints.” Documentation, 2024. https://typer.tiangolo.com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A55"/>
                </a:solidFill>
                <a:latin typeface="+mn-lt"/>
              </a:rPr>
              <a:t>[18] scikit-learn. “Machine Learning in Python.” Documentation, 2024. https://scikit-learn.org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152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 (continued)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79065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ModelSentinel – AI Supply-Chain Security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2833</Words>
  <Application>Microsoft Office PowerPoint</Application>
  <PresentationFormat>Widescreen</PresentationFormat>
  <Paragraphs>457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Sasi T</cp:lastModifiedBy>
  <cp:revision>15</cp:revision>
  <dcterms:created xsi:type="dcterms:W3CDTF">2024-05-13T10:33:11Z</dcterms:created>
  <dcterms:modified xsi:type="dcterms:W3CDTF">2026-10-11T13:12:02Z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